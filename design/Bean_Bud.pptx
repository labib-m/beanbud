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Bean Bud is a personal cafe notebook — not a review site. Twenty cafes, two cities, four friends who each keep their own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modes of use pull in opposite directions: logging is fast and one-handed in a noisy room; browsing is slow and comparative, later,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sat on the same tokens. What differed was structure, not palette — that was the answer to not wanting the default cafe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 for the shell, Counter for the feed. The argument for warmth is the hand, not the mood board: biggest targets, readable at arm's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neighbourhood, city, overall stars, visit count, last visit, price band, and whether the latest visit scored up or down — all on the card, no expansion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expanded view answers the comparison questions: how each criterion averages, whether it is trending, what you order and what it costs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form is name, five taps, a drink and a price. Hours, parking, tags and amenities live behind one optional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feed inverts: other people's posts sit on the opposite ground from yours, and your own rating of the same cafe is folded into their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Directory first, then the person: avatar, handle, home city, usual order, one-line intro, counts, where you overlap, and their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piece the brief didn't ask for. A fifty-bean jar, four progress bars, earned and locked badges, and four odd facts drawn from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is not a filter over light. The accent lightens a ramp step, and the feed inversion flips — foreign cards go cream on the dark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 document carries every value. These are the ones a developer asks for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decisions worth making before build. The compare rail is the biggest one — it would change every card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-1333500"/>
            <a:ext cx="7239000" cy="7239000"/>
          </a:xfrm>
          <a:prstGeom prst="ellipse">
            <a:avLst/>
          </a:prstGeom>
          <a:solidFill>
            <a:srgbClr val="EBDDC5"/>
          </a:solidFill>
          <a:ln/>
        </p:spPr>
      </p:sp>
      <p:sp>
        <p:nvSpPr>
          <p:cNvPr id="3" name="Shape 1"/>
          <p:cNvSpPr/>
          <p:nvPr/>
        </p:nvSpPr>
        <p:spPr>
          <a:xfrm>
            <a:off x="12668250" y="8096250"/>
            <a:ext cx="4000500" cy="4000500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967112"/>
            <a:ext cx="1236345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spc="378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MOBILE PRODUCT DESIGN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3723382"/>
            <a:ext cx="1236345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21"/>
              </a:lnSpc>
              <a:buNone/>
            </a:pPr>
            <a:r>
              <a:rPr lang="en-US" sz="9600" spc="-19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Bean Bud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52500" y="5186363"/>
            <a:ext cx="981075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75"/>
              </a:lnSpc>
              <a:buNone/>
            </a:pPr>
            <a:r>
              <a:rPr lang="en-US" sz="33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personal cafe notebook for Dhaka and Bangkok, and the small group of friends who keep one each.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6851303"/>
            <a:ext cx="2073325" cy="659085"/>
          </a:xfrm>
          <a:prstGeom prst="roundRect">
            <a:avLst>
              <a:gd name="adj" fmla="val 50000"/>
            </a:avLst>
          </a:prstGeom>
          <a:solidFill>
            <a:srgbClr val="C6713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6984653"/>
            <a:ext cx="1578025" cy="430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dirty="0">
                <a:solidFill>
                  <a:srgbClr val="F9F4E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Direction: Bud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78225" y="6851303"/>
            <a:ext cx="2058963" cy="659085"/>
          </a:xfrm>
          <a:prstGeom prst="roundRect">
            <a:avLst>
              <a:gd name="adj" fmla="val 50000"/>
            </a:avLst>
          </a:prstGeom>
          <a:ln w="1905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025" y="7003703"/>
            <a:ext cx="152556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 and dark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89587" y="6851303"/>
            <a:ext cx="1759148" cy="659085"/>
          </a:xfrm>
          <a:prstGeom prst="roundRect">
            <a:avLst>
              <a:gd name="adj" fmla="val 50000"/>
            </a:avLst>
          </a:prstGeom>
          <a:ln w="1905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4387" y="7003703"/>
            <a:ext cx="1225748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Six screens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brief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87835"/>
            <a:ext cx="7924800" cy="4341391"/>
          </a:xfrm>
          <a:prstGeom prst="roundRect">
            <a:avLst>
              <a:gd name="adj" fmla="val 8776"/>
            </a:avLst>
          </a:prstGeom>
          <a:solidFill>
            <a:srgbClr val="EBDDC5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621235"/>
            <a:ext cx="75438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spc="294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THE CAFE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85900" y="3301305"/>
            <a:ext cx="706374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25"/>
              </a:lnSpc>
              <a:buNone/>
            </a:pPr>
            <a:r>
              <a:rPr lang="en-US" sz="33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visit logged in under a minute, one-handed, sitting at the table.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485900" y="4657576"/>
            <a:ext cx="70637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Five star rows, a drink, a price. Everything else optional and folded away.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410700" y="2087835"/>
            <a:ext cx="7924800" cy="4341391"/>
          </a:xfrm>
          <a:prstGeom prst="roundRect">
            <a:avLst>
              <a:gd name="adj" fmla="val 8776"/>
            </a:avLst>
          </a:prstGeom>
          <a:solidFill>
            <a:srgbClr val="16140F"/>
          </a:solidFill>
          <a:ln/>
        </p:spPr>
      </p:sp>
      <p:sp>
        <p:nvSpPr>
          <p:cNvPr id="8" name="Text 6"/>
          <p:cNvSpPr/>
          <p:nvPr/>
        </p:nvSpPr>
        <p:spPr>
          <a:xfrm>
            <a:off x="9944100" y="2621235"/>
            <a:ext cx="75438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spc="294" kern="0" dirty="0">
                <a:solidFill>
                  <a:srgbClr val="F6A0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LATER, AT HOME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44100" y="3301305"/>
            <a:ext cx="706374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25"/>
              </a:lnSpc>
              <a:buNone/>
            </a:pPr>
            <a:r>
              <a:rPr lang="en-US" sz="330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Deciding where to work tomorrow, or where to take someone.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944100" y="4657576"/>
            <a:ext cx="706374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Comparison is the real work: the same cafe rated differently by you and a friend, or a coffee that got more expensive.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886426"/>
            <a:ext cx="1723876" cy="620985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7019776"/>
            <a:ext cx="1266676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47826" y="6886426"/>
            <a:ext cx="1982763" cy="620985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14" name="Text 12"/>
          <p:cNvSpPr/>
          <p:nvPr/>
        </p:nvSpPr>
        <p:spPr>
          <a:xfrm>
            <a:off x="3114526" y="7019776"/>
            <a:ext cx="152556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 and dark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02039" y="6886426"/>
            <a:ext cx="1467817" cy="620985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16" name="Text 14"/>
          <p:cNvSpPr/>
          <p:nvPr/>
        </p:nvSpPr>
        <p:spPr>
          <a:xfrm>
            <a:off x="5268739" y="7019776"/>
            <a:ext cx="101061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Stars 1–5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41306" y="6886426"/>
            <a:ext cx="3694584" cy="620985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8006" y="7019776"/>
            <a:ext cx="327202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Prices carry their own currency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07340" y="6886426"/>
            <a:ext cx="3845942" cy="620985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774040" y="7019776"/>
            <a:ext cx="34279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embedded map, link out only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Three directions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821135"/>
            <a:ext cx="12753975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Same tokens in all three. What changed was structure — which is where the escape from the warm-cafe cliché had to come from.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320281"/>
            <a:ext cx="5206975" cy="4194795"/>
          </a:xfrm>
          <a:prstGeom prst="roundRect">
            <a:avLst>
              <a:gd name="adj" fmla="val 8174"/>
            </a:avLst>
          </a:prstGeom>
          <a:solidFill>
            <a:srgbClr val="F5EAD8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3777481"/>
            <a:ext cx="800100" cy="80010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777481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098"/>
              </a:lnSpc>
              <a:buNone/>
            </a:pPr>
            <a:r>
              <a:rPr lang="en-US" sz="2700" dirty="0">
                <a:solidFill>
                  <a:srgbClr val="F9F4E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1a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71600" y="4787131"/>
            <a:ext cx="4805653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42"/>
              </a:lnSpc>
              <a:buNone/>
            </a:pPr>
            <a:r>
              <a:rPr lang="en-US" sz="330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Ledger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71600" y="5457676"/>
            <a:ext cx="449983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Rows, not cards. Sage leads; terracotta is reserved for change alone. Densest, best for scanning twenty.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75" y="3320281"/>
            <a:ext cx="5206975" cy="4194795"/>
          </a:xfrm>
          <a:prstGeom prst="roundRect">
            <a:avLst>
              <a:gd name="adj" fmla="val 8174"/>
            </a:avLst>
          </a:prstGeom>
          <a:solidFill>
            <a:srgbClr val="C67139"/>
          </a:solidFill>
          <a:ln/>
        </p:spPr>
      </p:sp>
      <p:sp>
        <p:nvSpPr>
          <p:cNvPr id="10" name="Shape 8"/>
          <p:cNvSpPr/>
          <p:nvPr/>
        </p:nvSpPr>
        <p:spPr>
          <a:xfrm>
            <a:off x="6959575" y="3777481"/>
            <a:ext cx="800100" cy="800100"/>
          </a:xfrm>
          <a:prstGeom prst="ellipse">
            <a:avLst/>
          </a:prstGeom>
          <a:solidFill>
            <a:srgbClr val="F9F4ED"/>
          </a:solidFill>
          <a:ln/>
        </p:spPr>
      </p:sp>
      <p:sp>
        <p:nvSpPr>
          <p:cNvPr id="11" name="Text 9"/>
          <p:cNvSpPr/>
          <p:nvPr/>
        </p:nvSpPr>
        <p:spPr>
          <a:xfrm>
            <a:off x="6921475" y="3777481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098"/>
              </a:lnSpc>
              <a:buNone/>
            </a:pPr>
            <a:r>
              <a:rPr lang="en-US" sz="27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1b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959575" y="4787131"/>
            <a:ext cx="4805653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42"/>
              </a:lnSpc>
              <a:buNone/>
            </a:pPr>
            <a:r>
              <a:rPr lang="en-US" sz="3300" dirty="0">
                <a:solidFill>
                  <a:srgbClr val="F9F4E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Bud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959575" y="5457676"/>
            <a:ext cx="449983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F9F4E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Score as a filled disc, everything pill-shaped, one cafe per thumb-height block. Chosen.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28450" y="3320281"/>
            <a:ext cx="5207050" cy="4194795"/>
          </a:xfrm>
          <a:prstGeom prst="roundRect">
            <a:avLst>
              <a:gd name="adj" fmla="val 8174"/>
            </a:avLst>
          </a:prstGeom>
          <a:solidFill>
            <a:srgbClr val="16140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547550" y="3777481"/>
            <a:ext cx="800100" cy="800100"/>
          </a:xfrm>
          <a:prstGeom prst="ellipse">
            <a:avLst/>
          </a:prstGeom>
          <a:solidFill>
            <a:srgbClr val="F6A06B"/>
          </a:solidFill>
          <a:ln/>
        </p:spPr>
      </p:sp>
      <p:sp>
        <p:nvSpPr>
          <p:cNvPr id="16" name="Text 14"/>
          <p:cNvSpPr/>
          <p:nvPr/>
        </p:nvSpPr>
        <p:spPr>
          <a:xfrm>
            <a:off x="12509450" y="3777481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098"/>
              </a:lnSpc>
              <a:buNone/>
            </a:pPr>
            <a:r>
              <a:rPr lang="en-US" sz="2700" dirty="0">
                <a:solidFill>
                  <a:srgbClr val="16140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1c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547550" y="4787131"/>
            <a:ext cx="480573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42"/>
              </a:lnSpc>
              <a:buNone/>
            </a:pPr>
            <a:r>
              <a:rPr lang="en-US" sz="3300" dirty="0">
                <a:solidFill>
                  <a:srgbClr val="F5EAD8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Counter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547550" y="5457676"/>
            <a:ext cx="44999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Dark-first, cream only as the card. Its compare rail and inverted feed carried into the build.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353791"/>
            <a:ext cx="120491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spc="378" kern="0" dirty="0">
                <a:solidFill>
                  <a:srgbClr val="F6A0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CHOSEN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3033861"/>
            <a:ext cx="12049125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F5EAD8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Bud, with Counter's feed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997747"/>
            <a:ext cx="11282363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cream ground is the system's mandate, so the design leans in rather than apologising. The case for it is the hand, not the mood board.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5375002"/>
            <a:ext cx="12192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48px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5050" y="5555977"/>
            <a:ext cx="988923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Minimum tap target, everywhere. The rating stars are 25px glyphs in 44px buttons.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6576938"/>
            <a:ext cx="12192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305050" y="6757913"/>
            <a:ext cx="958985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 per thumb-height block, so the list reads at arm's length in bad light.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7474148"/>
            <a:ext cx="12192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05050" y="7655123"/>
            <a:ext cx="992489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94"/>
              </a:lnSpc>
              <a:buNone/>
            </a:pPr>
            <a:r>
              <a:rPr lang="en-US" sz="210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Accents only. Terracotta acts; sage measures. Nothing else carries meaning.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763500" y="1598712"/>
            <a:ext cx="4572000" cy="7280002"/>
          </a:xfrm>
          <a:prstGeom prst="roundRect">
            <a:avLst>
              <a:gd name="adj" fmla="val 9167"/>
            </a:avLst>
          </a:prstGeom>
          <a:ln/>
          <a:effectLst>
            <a:outerShdw sx="100000" sy="100000" kx="0" ky="0" algn="bl" rotWithShape="0" blurRad="666750" dist="28575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0" y="1598712"/>
            <a:ext cx="4572000" cy="7280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74540"/>
            <a:ext cx="4476750" cy="7128346"/>
          </a:xfrm>
          <a:prstGeom prst="roundRect">
            <a:avLst>
              <a:gd name="adj" fmla="val 9362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74540"/>
            <a:ext cx="4476750" cy="7128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0" y="2419424"/>
            <a:ext cx="121539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Notebook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286500" y="3307110"/>
            <a:ext cx="1138047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Everything the brief asks for sits on the closed card, so twenty cafes can be judged without opening one.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286500" y="466531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7" name="Text 4"/>
          <p:cNvSpPr/>
          <p:nvPr/>
        </p:nvSpPr>
        <p:spPr>
          <a:xfrm>
            <a:off x="6534150" y="483676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Name, area, city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1915775" y="466531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9" name="Text 6"/>
          <p:cNvSpPr/>
          <p:nvPr/>
        </p:nvSpPr>
        <p:spPr>
          <a:xfrm>
            <a:off x="12163425" y="483676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Overall stars and score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86500" y="563113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11" name="Text 8"/>
          <p:cNvSpPr/>
          <p:nvPr/>
        </p:nvSpPr>
        <p:spPr>
          <a:xfrm>
            <a:off x="6534150" y="580258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Visit count and last date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1915775" y="563113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13" name="Text 10"/>
          <p:cNvSpPr/>
          <p:nvPr/>
        </p:nvSpPr>
        <p:spPr>
          <a:xfrm>
            <a:off x="12163425" y="580258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Price band in its own currency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286500" y="659695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15" name="Text 12"/>
          <p:cNvSpPr/>
          <p:nvPr/>
        </p:nvSpPr>
        <p:spPr>
          <a:xfrm>
            <a:off x="6534150" y="676840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 or down since last visit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1915775" y="6596955"/>
            <a:ext cx="5419725" cy="756270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17" name="Text 14"/>
          <p:cNvSpPr/>
          <p:nvPr/>
        </p:nvSpPr>
        <p:spPr>
          <a:xfrm>
            <a:off x="12163425" y="6768405"/>
            <a:ext cx="508701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 colour tracks the score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286500" y="7715176"/>
            <a:ext cx="12153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Empty, one entry and twenty all use the same card. The empty state is a single sentence and one button.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410346"/>
            <a:ext cx="121539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Cafe detail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3298031"/>
            <a:ext cx="121539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screen, five stacked answers.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76300" y="4148584"/>
            <a:ext cx="11201400" cy="280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lnSpc>
                <a:spcPct val="125373"/>
              </a:lnSpc>
              <a:buSzPct val="100000"/>
              <a:buFont typeface="+mj-lt"/>
              <a:buAutoNum type="arabicPeriod" startAt="1"/>
              <a:tabLst>
                <a:tab pos="400050" algn="l"/>
              </a:tabLst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Five criteria averaged across every visit, in sage.</a:t>
            </a:r>
            <a:endParaRPr lang="en-US" sz="2100" dirty="0"/>
          </a:p>
          <a:p>
            <a:pPr algn="l" marL="400050" indent="-400050">
              <a:lnSpc>
                <a:spcPct val="125373"/>
              </a:lnSpc>
              <a:buSzPct val="100000"/>
              <a:buFont typeface="+mj-lt"/>
              <a:buAutoNum type="arabicPeriod" startAt="2"/>
              <a:tabLst>
                <a:tab pos="400050" algn="l"/>
              </a:tabLst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trend line over the whole history, with the latest visit dotted.</a:t>
            </a:r>
            <a:endParaRPr lang="en-US" sz="2100" dirty="0"/>
          </a:p>
          <a:p>
            <a:pPr algn="l" marL="400050" indent="-400050">
              <a:lnSpc>
                <a:spcPct val="125373"/>
              </a:lnSpc>
              <a:buSzPct val="100000"/>
              <a:buFont typeface="+mj-lt"/>
              <a:buAutoNum type="arabicPeriod" startAt="3"/>
              <a:tabLst>
                <a:tab pos="400050" algn="l"/>
              </a:tabLst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coffee ordered, with average price and its own rating.</a:t>
            </a:r>
            <a:endParaRPr lang="en-US" sz="2100" dirty="0"/>
          </a:p>
          <a:p>
            <a:pPr algn="l" marL="400050" indent="-400050">
              <a:lnSpc>
                <a:spcPct val="125373"/>
              </a:lnSpc>
              <a:buSzPct val="100000"/>
              <a:buFont typeface="+mj-lt"/>
              <a:buAutoNum type="arabicPeriod" startAt="4"/>
              <a:tabLst>
                <a:tab pos="400050" algn="l"/>
              </a:tabLst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Hours, parking, address and a link out — no embedded map.</a:t>
            </a:r>
            <a:endParaRPr lang="en-US" sz="2100" dirty="0"/>
          </a:p>
          <a:p>
            <a:pPr algn="l" marL="400050" indent="-400050">
              <a:lnSpc>
                <a:spcPct val="125373"/>
              </a:lnSpc>
              <a:buSzPct val="100000"/>
              <a:buFont typeface="+mj-lt"/>
              <a:buAutoNum type="arabicPeriod" startAt="5"/>
              <a:tabLst>
                <a:tab pos="400050" algn="l"/>
              </a:tabLst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dated visit log, each entry opening on its own.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7310884"/>
            <a:ext cx="6160071" cy="756270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7482334"/>
            <a:ext cx="577337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↑৳60 since Jun — price drift flagged in place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858750" y="1674540"/>
            <a:ext cx="4476750" cy="7128346"/>
          </a:xfrm>
          <a:prstGeom prst="roundRect">
            <a:avLst>
              <a:gd name="adj" fmla="val 9362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0" y="1674540"/>
            <a:ext cx="4476750" cy="7128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74540"/>
            <a:ext cx="4476750" cy="7128346"/>
          </a:xfrm>
          <a:prstGeom prst="roundRect">
            <a:avLst>
              <a:gd name="adj" fmla="val 9362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74540"/>
            <a:ext cx="4476750" cy="7128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0" y="1918395"/>
            <a:ext cx="121539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Logging a visit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286500" y="2806080"/>
            <a:ext cx="1138047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Under a minute means the required path is short enough to finish before the coffee arrives.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286500" y="4164285"/>
            <a:ext cx="11049000" cy="1102965"/>
          </a:xfrm>
          <a:prstGeom prst="roundRect">
            <a:avLst>
              <a:gd name="adj" fmla="val 24180"/>
            </a:avLst>
          </a:prstGeom>
          <a:solidFill>
            <a:srgbClr val="EBDDC5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4450035"/>
            <a:ext cx="106946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7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1 </a:t>
            </a:r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Type two letters; autocomplete fills area, city, currency and band.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6286500" y="5476801"/>
            <a:ext cx="11049000" cy="1102965"/>
          </a:xfrm>
          <a:prstGeom prst="roundRect">
            <a:avLst>
              <a:gd name="adj" fmla="val 24180"/>
            </a:avLst>
          </a:prstGeom>
          <a:solidFill>
            <a:srgbClr val="EBDDC5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5762551"/>
            <a:ext cx="106946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7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2 </a:t>
            </a:r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Five rows of stars at 25px — one tap each, tap again to clear.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6286500" y="6789316"/>
            <a:ext cx="11049000" cy="1102965"/>
          </a:xfrm>
          <a:prstGeom prst="roundRect">
            <a:avLst>
              <a:gd name="adj" fmla="val 24180"/>
            </a:avLst>
          </a:prstGeom>
          <a:solidFill>
            <a:srgbClr val="EBDDC5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7075066"/>
            <a:ext cx="106946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7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3 </a:t>
            </a:r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Drink, price and currency; a note if there is anything to say.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286500" y="8216131"/>
            <a:ext cx="12153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Everything else — hours, parking, good-for tags, amenities — sits behind a single optional row.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430759"/>
            <a:ext cx="121539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b="1" spc="378" kern="0" dirty="0">
                <a:solidFill>
                  <a:srgbClr val="F6A06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FROM DIRECTION 1C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2110829"/>
            <a:ext cx="121539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F5EAD8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Feed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036615"/>
            <a:ext cx="1138047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Four notebooks in one stream: who, which cafe, stars, what they drank and paid, a line or two of their note.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94820"/>
            <a:ext cx="11049000" cy="4651921"/>
          </a:xfrm>
          <a:prstGeom prst="roundRect">
            <a:avLst>
              <a:gd name="adj" fmla="val 7371"/>
            </a:avLst>
          </a:prstGeom>
          <a:solidFill>
            <a:srgbClr val="F5EAD8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4813920"/>
            <a:ext cx="111480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Nabila rates it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9700" y="5322540"/>
            <a:ext cx="11148060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3.8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409700" y="6415980"/>
            <a:ext cx="10134600" cy="19050"/>
          </a:xfrm>
          <a:prstGeom prst="rect">
            <a:avLst/>
          </a:prstGeom>
          <a:solidFill>
            <a:srgbClr val="F5EAD8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6701730"/>
            <a:ext cx="111480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You rate 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9700" y="7210351"/>
            <a:ext cx="11148060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AEBF92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4.6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409700" y="8284741"/>
            <a:ext cx="11148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800" dirty="0">
                <a:solidFill>
                  <a:srgbClr val="9790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disagreement is the content. Every foreign card carries your own score underneath it.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58750" y="1674540"/>
            <a:ext cx="4476750" cy="7128346"/>
          </a:xfrm>
          <a:prstGeom prst="roundRect">
            <a:avLst>
              <a:gd name="adj" fmla="val 9362"/>
            </a:avLst>
          </a:prstGeom>
          <a:ln/>
          <a:effectLst>
            <a:outerShdw sx="100000" sy="100000" kx="0" ky="0" algn="bl" rotWithShape="0" blurRad="666750" dist="285750" dir="5400000">
              <a:srgbClr val="000000">
                <a:alpha val="4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0" y="1674540"/>
            <a:ext cx="4476750" cy="7128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People and profiles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773040"/>
            <a:ext cx="3810000" cy="6066681"/>
          </a:xfrm>
          <a:prstGeom prst="roundRect">
            <a:avLst>
              <a:gd name="adj" fmla="val 10000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773040"/>
            <a:ext cx="3810000" cy="60666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29250" y="2773040"/>
            <a:ext cx="3810000" cy="6066681"/>
          </a:xfrm>
          <a:prstGeom prst="roundRect">
            <a:avLst>
              <a:gd name="adj" fmla="val 10000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2773040"/>
            <a:ext cx="3810000" cy="60666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06000" y="3706639"/>
            <a:ext cx="81724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profile is a notebook with a face on it.</a:t>
            </a:r>
            <a:endParaRPr lang="en-US" sz="2550" dirty="0"/>
          </a:p>
        </p:txBody>
      </p:sp>
      <p:sp>
        <p:nvSpPr>
          <p:cNvPr id="8" name="Shape 4"/>
          <p:cNvSpPr/>
          <p:nvPr/>
        </p:nvSpPr>
        <p:spPr>
          <a:xfrm>
            <a:off x="9906000" y="4519092"/>
            <a:ext cx="7429500" cy="718170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/>
        </p:spPr>
      </p:sp>
      <p:sp>
        <p:nvSpPr>
          <p:cNvPr id="9" name="Text 5"/>
          <p:cNvSpPr/>
          <p:nvPr/>
        </p:nvSpPr>
        <p:spPr>
          <a:xfrm>
            <a:off x="10153650" y="4671492"/>
            <a:ext cx="715708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Avatar, name, username, home city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9906000" y="5408712"/>
            <a:ext cx="7429500" cy="718170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/>
        </p:spPr>
      </p:sp>
      <p:sp>
        <p:nvSpPr>
          <p:cNvPr id="11" name="Text 7"/>
          <p:cNvSpPr/>
          <p:nvPr/>
        </p:nvSpPr>
        <p:spPr>
          <a:xfrm>
            <a:off x="10153650" y="5561112"/>
            <a:ext cx="715708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Usual order and a one-line intro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9906000" y="6298332"/>
            <a:ext cx="7429500" cy="718170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/>
        </p:spPr>
      </p:sp>
      <p:sp>
        <p:nvSpPr>
          <p:cNvPr id="13" name="Text 9"/>
          <p:cNvSpPr/>
          <p:nvPr/>
        </p:nvSpPr>
        <p:spPr>
          <a:xfrm>
            <a:off x="10153650" y="6450732"/>
            <a:ext cx="715708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Cafes, visits, cities, average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906000" y="7187952"/>
            <a:ext cx="7429500" cy="718170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15" name="Text 11"/>
          <p:cNvSpPr/>
          <p:nvPr/>
        </p:nvSpPr>
        <p:spPr>
          <a:xfrm>
            <a:off x="10153650" y="7340352"/>
            <a:ext cx="715708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Where you overlap — your stars against theirs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674540"/>
            <a:ext cx="4476750" cy="7128346"/>
          </a:xfrm>
          <a:prstGeom prst="roundRect">
            <a:avLst>
              <a:gd name="adj" fmla="val 9362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674540"/>
            <a:ext cx="4476750" cy="7128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0" y="2010817"/>
            <a:ext cx="121539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Milestones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286500" y="2898502"/>
            <a:ext cx="1138047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44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Counting what is already being logged, rather than inventing a game on top of it.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286500" y="4256708"/>
            <a:ext cx="5400675" cy="1981126"/>
          </a:xfrm>
          <a:prstGeom prst="roundRect">
            <a:avLst>
              <a:gd name="adj" fmla="val 15385"/>
            </a:avLst>
          </a:prstGeom>
          <a:solidFill>
            <a:srgbClr val="EBDDC5"/>
          </a:solidFill>
          <a:ln/>
        </p:spPr>
      </p:sp>
      <p:sp>
        <p:nvSpPr>
          <p:cNvPr id="7" name="Text 4"/>
          <p:cNvSpPr/>
          <p:nvPr/>
        </p:nvSpPr>
        <p:spPr>
          <a:xfrm>
            <a:off x="6648450" y="4599608"/>
            <a:ext cx="514445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47/50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648450" y="5540648"/>
            <a:ext cx="514445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Coffees, drawn as a jar of beans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934825" y="4256708"/>
            <a:ext cx="5400675" cy="1981126"/>
          </a:xfrm>
          <a:prstGeom prst="roundRect">
            <a:avLst>
              <a:gd name="adj" fmla="val 15385"/>
            </a:avLst>
          </a:prstGeom>
          <a:solidFill>
            <a:srgbClr val="EBDDC5"/>
          </a:solidFill>
          <a:ln/>
        </p:spPr>
      </p:sp>
      <p:sp>
        <p:nvSpPr>
          <p:cNvPr id="10" name="Text 7"/>
          <p:cNvSpPr/>
          <p:nvPr/>
        </p:nvSpPr>
        <p:spPr>
          <a:xfrm>
            <a:off x="12296775" y="4599608"/>
            <a:ext cx="514445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56633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6/9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12296775" y="5540648"/>
            <a:ext cx="514445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Badges earned; locked ones stay dashed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86500" y="6485483"/>
            <a:ext cx="5400675" cy="1981126"/>
          </a:xfrm>
          <a:prstGeom prst="roundRect">
            <a:avLst>
              <a:gd name="adj" fmla="val 15385"/>
            </a:avLst>
          </a:prstGeom>
          <a:solidFill>
            <a:srgbClr val="EBDDC5"/>
          </a:solidFill>
          <a:ln/>
        </p:spPr>
      </p:sp>
      <p:sp>
        <p:nvSpPr>
          <p:cNvPr id="13" name="Text 10"/>
          <p:cNvSpPr/>
          <p:nvPr/>
        </p:nvSpPr>
        <p:spPr>
          <a:xfrm>
            <a:off x="6648450" y="6828383"/>
            <a:ext cx="514445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5 wks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6648450" y="7769423"/>
            <a:ext cx="514445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Longest run of a visit a week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934825" y="6485483"/>
            <a:ext cx="5400675" cy="1981126"/>
          </a:xfrm>
          <a:prstGeom prst="roundRect">
            <a:avLst>
              <a:gd name="adj" fmla="val 15385"/>
            </a:avLst>
          </a:prstGeom>
          <a:solidFill>
            <a:srgbClr val="EBDDC5"/>
          </a:solidFill>
          <a:ln/>
        </p:spPr>
      </p:sp>
      <p:sp>
        <p:nvSpPr>
          <p:cNvPr id="16" name="Text 13"/>
          <p:cNvSpPr/>
          <p:nvPr/>
        </p:nvSpPr>
        <p:spPr>
          <a:xfrm>
            <a:off x="12296775" y="6828383"/>
            <a:ext cx="514445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74"/>
              </a:lnSpc>
              <a:buNone/>
            </a:pPr>
            <a:r>
              <a:rPr lang="en-US" sz="4200" dirty="0">
                <a:solidFill>
                  <a:srgbClr val="56633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↑৳60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12296775" y="7769423"/>
            <a:ext cx="514445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Cold brew drift nobody else noticed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Light and dark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821135"/>
            <a:ext cx="12263438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75706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Two tuned themes, not one inverted. Both were designed against the same twenty-cafe notebook.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426991"/>
            <a:ext cx="3714750" cy="5915025"/>
          </a:xfrm>
          <a:prstGeom prst="roundRect">
            <a:avLst>
              <a:gd name="adj" fmla="val 10256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426991"/>
            <a:ext cx="3714750" cy="5915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34000" y="3426991"/>
            <a:ext cx="3714750" cy="5915025"/>
          </a:xfrm>
          <a:prstGeom prst="roundRect">
            <a:avLst>
              <a:gd name="adj" fmla="val 10256"/>
            </a:avLst>
          </a:prstGeom>
          <a:ln/>
          <a:effectLst>
            <a:outerShdw sx="100000" sy="100000" kx="0" ky="0" algn="bl" rotWithShape="0" blurRad="571500" dist="228600" dir="5400000">
              <a:srgbClr val="2E2B25">
                <a:alpha val="2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426991"/>
            <a:ext cx="3714750" cy="59150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715500" y="4974803"/>
            <a:ext cx="533400" cy="5334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9" name="Text 5"/>
          <p:cNvSpPr/>
          <p:nvPr/>
        </p:nvSpPr>
        <p:spPr>
          <a:xfrm>
            <a:off x="10458450" y="5034781"/>
            <a:ext cx="485460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Accent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#c67139 </a:t>
            </a:r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lightens to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#f6a06b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9715500" y="5736803"/>
            <a:ext cx="533400" cy="53340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1" name="Text 7"/>
          <p:cNvSpPr/>
          <p:nvPr/>
        </p:nvSpPr>
        <p:spPr>
          <a:xfrm>
            <a:off x="10458450" y="5796781"/>
            <a:ext cx="457850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Sage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#7a8a5e </a:t>
            </a:r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lightens to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#aebf92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9715500" y="6498803"/>
            <a:ext cx="533400" cy="533400"/>
          </a:xfrm>
          <a:prstGeom prst="ellipse">
            <a:avLst/>
          </a:prstGeom>
          <a:solidFill>
            <a:srgbClr val="F5EAD8"/>
          </a:solidFill>
          <a:ln w="19050">
            <a:solidFill>
              <a:srgbClr val="D7CDB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58450" y="6558781"/>
            <a:ext cx="465405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Ground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#f5ead8 </a:t>
            </a:r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becomes </a:t>
            </a:r>
            <a:pPr algn="l" indent="0" marL="0">
              <a:lnSpc>
                <a:spcPct val="129552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#16140f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715500" y="7260803"/>
            <a:ext cx="533400" cy="533400"/>
          </a:xfrm>
          <a:prstGeom prst="ellipse">
            <a:avLst/>
          </a:prstGeom>
          <a:solidFill>
            <a:srgbClr val="16140F"/>
          </a:solidFill>
          <a:ln/>
        </p:spPr>
      </p:sp>
      <p:sp>
        <p:nvSpPr>
          <p:cNvPr id="15" name="Text 11"/>
          <p:cNvSpPr/>
          <p:nvPr/>
        </p:nvSpPr>
        <p:spPr>
          <a:xfrm>
            <a:off x="10458450" y="7320781"/>
            <a:ext cx="45907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Feed inversion flips with the theme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system, in short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87835"/>
            <a:ext cx="3867150" cy="3882256"/>
          </a:xfrm>
          <a:prstGeom prst="roundRect">
            <a:avLst>
              <a:gd name="adj" fmla="val 7882"/>
            </a:avLst>
          </a:prstGeom>
          <a:solidFill>
            <a:srgbClr val="F9F4ED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506935"/>
            <a:ext cx="341566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252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3070771"/>
            <a:ext cx="3198305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Caprasimo 400 for display, 17–34px. Figtree 400/600/700 for everything else, 10.5–15px. Tabular numerals on every score and price.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124450" y="2087835"/>
            <a:ext cx="3867150" cy="3882256"/>
          </a:xfrm>
          <a:prstGeom prst="roundRect">
            <a:avLst>
              <a:gd name="adj" fmla="val 7882"/>
            </a:avLst>
          </a:prstGeom>
          <a:solidFill>
            <a:srgbClr val="F9F4ED"/>
          </a:solidFill>
          <a:ln/>
        </p:spPr>
      </p:sp>
      <p:sp>
        <p:nvSpPr>
          <p:cNvPr id="7" name="Text 5"/>
          <p:cNvSpPr/>
          <p:nvPr/>
        </p:nvSpPr>
        <p:spPr>
          <a:xfrm>
            <a:off x="5505450" y="2506935"/>
            <a:ext cx="341566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252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RADII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05450" y="3070771"/>
            <a:ext cx="3198305" cy="210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38 shell, 26 card, 24 panel, 20 row, 18 inset, 999 for every button, chip, tag and avatar. Nothing square.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96400" y="2087835"/>
            <a:ext cx="3867150" cy="3882256"/>
          </a:xfrm>
          <a:prstGeom prst="roundRect">
            <a:avLst>
              <a:gd name="adj" fmla="val 7882"/>
            </a:avLst>
          </a:prstGeom>
          <a:solidFill>
            <a:srgbClr val="F9F4ED"/>
          </a:solidFill>
          <a:ln/>
        </p:spPr>
      </p:sp>
      <p:sp>
        <p:nvSpPr>
          <p:cNvPr id="10" name="Text 8"/>
          <p:cNvSpPr/>
          <p:nvPr/>
        </p:nvSpPr>
        <p:spPr>
          <a:xfrm>
            <a:off x="9677400" y="2506935"/>
            <a:ext cx="341566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252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77400" y="3070771"/>
            <a:ext cx="3198305" cy="210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masked element, repeat-x, filled by a hard-stop gradient at value ÷ 5. Fractions render exactly; input is whole stars only.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68350" y="2087835"/>
            <a:ext cx="3867150" cy="3882256"/>
          </a:xfrm>
          <a:prstGeom prst="roundRect">
            <a:avLst>
              <a:gd name="adj" fmla="val 7882"/>
            </a:avLst>
          </a:prstGeom>
          <a:solidFill>
            <a:srgbClr val="F9F4ED"/>
          </a:solidFill>
          <a:ln/>
        </p:spPr>
      </p:sp>
      <p:sp>
        <p:nvSpPr>
          <p:cNvPr id="13" name="Text 11"/>
          <p:cNvSpPr/>
          <p:nvPr/>
        </p:nvSpPr>
        <p:spPr>
          <a:xfrm>
            <a:off x="13849350" y="2506935"/>
            <a:ext cx="341566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252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SURFACES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49350" y="3070771"/>
            <a:ext cx="3198305" cy="2518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Cards carry no border and no shadow — only the surface step. Two shadows exist, both on the shell and the floating button.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6408241"/>
            <a:ext cx="3858071" cy="659085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6560641"/>
            <a:ext cx="3402314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Spacing 4 · 6 · 9 · 13 · 16 · 20 · 26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01071" y="6408241"/>
            <a:ext cx="2671167" cy="659085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18" name="Text 16"/>
          <p:cNvSpPr/>
          <p:nvPr/>
        </p:nvSpPr>
        <p:spPr>
          <a:xfrm>
            <a:off x="5286821" y="6560641"/>
            <a:ext cx="217980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Card padding 16 / 18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2739" y="6408241"/>
            <a:ext cx="3863801" cy="659085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/>
        </p:spPr>
      </p:sp>
      <p:sp>
        <p:nvSpPr>
          <p:cNvPr id="20" name="Text 18"/>
          <p:cNvSpPr/>
          <p:nvPr/>
        </p:nvSpPr>
        <p:spPr>
          <a:xfrm>
            <a:off x="8148489" y="6560641"/>
            <a:ext cx="340821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96px reserved above the tab bar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917040" y="6408241"/>
            <a:ext cx="4536281" cy="659085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22" name="Text 20"/>
          <p:cNvSpPr/>
          <p:nvPr/>
        </p:nvSpPr>
        <p:spPr>
          <a:xfrm>
            <a:off x="12202790" y="6560641"/>
            <a:ext cx="410087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Noto Sans Bengali and Thai for ৳ and ฿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5715000"/>
            <a:ext cx="6667500" cy="6667500"/>
          </a:xfrm>
          <a:prstGeom prst="ellipse">
            <a:avLst/>
          </a:prstGeom>
          <a:solidFill>
            <a:srgbClr val="F6A06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372892"/>
            <a:ext cx="146685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spc="-72" kern="0" dirty="0">
                <a:solidFill>
                  <a:srgbClr val="F5EAD8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Open questions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4508227"/>
            <a:ext cx="7429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01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905000" y="4636815"/>
            <a:ext cx="13508117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Should the compare rail sit on every notebook card, not only in the feed and profiles?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5481638"/>
            <a:ext cx="7429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02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05000" y="5610225"/>
            <a:ext cx="1227709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After saving, does the app return to the cafe just logged, or to the notebook?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6455048"/>
            <a:ext cx="7429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50"/>
              </a:lnSpc>
              <a:buNone/>
            </a:pPr>
            <a:r>
              <a:rPr lang="en-US" sz="3300" dirty="0">
                <a:solidFill>
                  <a:srgbClr val="F6A06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03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905000" y="6583635"/>
            <a:ext cx="1204855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F5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 milestones deserve a tab of their own, or stay tucked inside your profile?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2026-09-19T12:05:36Z</dcterms:created>
  <dcterms:modified xsi:type="dcterms:W3CDTF">2026-09-19T12:05:36Z</dcterms:modified>
</cp:coreProperties>
</file>